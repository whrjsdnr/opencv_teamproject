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/home/geonug/kdt-linux/team_project/team_project/outputs/experiments/batch-20260927T234749-1ed6c599/summary</a:t>
            </a:r>
          </a:p>
          <a:p>
            <a:r>
              <a:t>Study: /home/geonug/kdt-linux/team_project/team_project/outputs/experiments/study-20260927T235637-8e7518db</a:t>
            </a:r>
          </a:p>
          <a:p>
            <a:r>
              <a:t>Details: docs/final_experiment_report.md; all figures/metrics generated from measured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/home/geonug/kdt-linux/team_project/team_project/outputs/experiments/batch-20260927T234749-1ed6c599/summary</a:t>
            </a:r>
          </a:p>
          <a:p>
            <a:r>
              <a:t>Study: /home/geonug/kdt-linux/team_project/team_project/outputs/experiments/study-20260927T235637-8e7518db</a:t>
            </a:r>
          </a:p>
          <a:p>
            <a:r>
              <a:t>Details: docs/final_experiment_report.md; all figures/metrics generated from measured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/home/geonug/kdt-linux/team_project/team_project/outputs/experiments/batch-20260927T234749-1ed6c599/summary</a:t>
            </a:r>
          </a:p>
          <a:p>
            <a:r>
              <a:t>Study: /home/geonug/kdt-linux/team_project/team_project/outputs/experiments/study-20260927T235637-8e7518db</a:t>
            </a:r>
          </a:p>
          <a:p>
            <a:r>
              <a:t>Details: docs/final_experiment_report.md; all figures/metrics generated from measured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/home/geonug/kdt-linux/team_project/team_project/outputs/experiments/batch-20260927T234749-1ed6c599/summary</a:t>
            </a:r>
          </a:p>
          <a:p>
            <a:r>
              <a:t>Study: /home/geonug/kdt-linux/team_project/team_project/outputs/experiments/study-20260927T235637-8e7518db</a:t>
            </a:r>
          </a:p>
          <a:p>
            <a:r>
              <a:t>Details: docs/final_experiment_report.md; all figures/metrics generated from measured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/home/geonug/kdt-linux/team_project/team_project/outputs/experiments/batch-20260927T234749-1ed6c599/summary</a:t>
            </a:r>
          </a:p>
          <a:p>
            <a:r>
              <a:t>Study: /home/geonug/kdt-linux/team_project/team_project/outputs/experiments/study-20260927T235637-8e7518db</a:t>
            </a:r>
          </a:p>
          <a:p>
            <a:r>
              <a:t>Details: docs/final_experiment_report.md; all figures/metrics generated from measured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/home/geonug/kdt-linux/team_project/team_project/outputs/experiments/batch-20260927T234749-1ed6c599/summary</a:t>
            </a:r>
          </a:p>
          <a:p>
            <a:r>
              <a:t>Study: /home/geonug/kdt-linux/team_project/team_project/outputs/experiments/study-20260927T235637-8e7518db</a:t>
            </a:r>
          </a:p>
          <a:p>
            <a:r>
              <a:t>Details: docs/final_experiment_report.md; all figures/metrics generated from measured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/home/geonug/kdt-linux/team_project/team_project/outputs/experiments/batch-20260927T234749-1ed6c599/summary</a:t>
            </a:r>
          </a:p>
          <a:p>
            <a:r>
              <a:t>Study: /home/geonug/kdt-linux/team_project/team_project/outputs/experiments/study-20260927T235637-8e7518db</a:t>
            </a:r>
          </a:p>
          <a:p>
            <a:r>
              <a:t>Details: docs/final_experiment_report.md; all figures/metrics generated from measured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/home/geonug/kdt-linux/team_project/team_project/outputs/experiments/batch-20260927T234749-1ed6c599/summary</a:t>
            </a:r>
          </a:p>
          <a:p>
            <a:r>
              <a:t>Study: /home/geonug/kdt-linux/team_project/team_project/outputs/experiments/study-20260927T235637-8e7518db</a:t>
            </a:r>
          </a:p>
          <a:p>
            <a:r>
              <a:t>Details: docs/final_experiment_report.md; all figures/metrics generated from measured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/home/geonug/kdt-linux/team_project/team_project/outputs/experiments/batch-20260927T234749-1ed6c599/summary</a:t>
            </a:r>
          </a:p>
          <a:p>
            <a:r>
              <a:t>Study: /home/geonug/kdt-linux/team_project/team_project/outputs/experiments/study-20260927T235637-8e7518db</a:t>
            </a:r>
          </a:p>
          <a:p>
            <a:r>
              <a:t>Details: docs/final_experiment_report.md; all figures/metrics generated from measured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/home/geonug/kdt-linux/team_project/team_project/outputs/experiments/batch-20260927T234749-1ed6c599/summary</a:t>
            </a:r>
          </a:p>
          <a:p>
            <a:r>
              <a:t>Study: /home/geonug/kdt-linux/team_project/team_project/outputs/experiments/study-20260927T235637-8e7518db</a:t>
            </a:r>
          </a:p>
          <a:p>
            <a:r>
              <a:t>Details: docs/final_experiment_report.md; all figures/metrics generated from measured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/home/geonug/kdt-linux/team_project/team_project/outputs/experiments/batch-20260927T234749-1ed6c599/summary</a:t>
            </a:r>
          </a:p>
          <a:p>
            <a:r>
              <a:t>Study: /home/geonug/kdt-linux/team_project/team_project/outputs/experiments/study-20260927T235637-8e7518db</a:t>
            </a:r>
          </a:p>
          <a:p>
            <a:r>
              <a:t>Details: docs/final_experiment_report.md; all figures/metrics generated from measured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/home/geonug/kdt-linux/team_project/team_project/outputs/experiments/batch-20260927T234749-1ed6c599/summary</a:t>
            </a:r>
          </a:p>
          <a:p>
            <a:r>
              <a:t>Study: /home/geonug/kdt-linux/team_project/team_project/outputs/experiments/study-20260927T235637-8e7518db</a:t>
            </a:r>
          </a:p>
          <a:p>
            <a:r>
              <a:t>Details: docs/final_experiment_report.md; all figures/metrics generated from measured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/home/geonug/kdt-linux/team_project/team_project/outputs/experiments/batch-20260927T234749-1ed6c599/summary</a:t>
            </a:r>
          </a:p>
          <a:p>
            <a:r>
              <a:t>Study: /home/geonug/kdt-linux/team_project/team_project/outputs/experiments/study-20260927T235637-8e7518db</a:t>
            </a:r>
          </a:p>
          <a:p>
            <a:r>
              <a:t>Details: docs/final_experiment_report.md; all figures/metrics generated from measured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/home/geonug/kdt-linux/team_project/team_project/outputs/experiments/batch-20260927T234749-1ed6c599/summary</a:t>
            </a:r>
          </a:p>
          <a:p>
            <a:r>
              <a:t>Study: /home/geonug/kdt-linux/team_project/team_project/outputs/experiments/study-20260927T235637-8e7518db</a:t>
            </a:r>
          </a:p>
          <a:p>
            <a:r>
              <a:t>Details: docs/final_experiment_report.md; all figures/metrics generated from measured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/home/geonug/kdt-linux/team_project/team_project/outputs/experiments/batch-20260927T234749-1ed6c599/summary</a:t>
            </a:r>
          </a:p>
          <a:p>
            <a:r>
              <a:t>Study: /home/geonug/kdt-linux/team_project/team_project/outputs/experiments/study-20260927T235637-8e7518db</a:t>
            </a:r>
          </a:p>
          <a:p>
            <a:r>
              <a:t>Details: docs/final_experiment_report.md; all figures/metrics generated from measured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73152" cy="594360"/>
          </a:xfrm>
          <a:prstGeom prst="rect">
            <a:avLst/>
          </a:prstGeom>
          <a:solidFill>
            <a:srgbClr val="20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0A69A"/>
                </a:solidFill>
                <a:latin typeface="NanumGothic"/>
              </a:defRPr>
            </a:pPr>
            <a:r>
              <a:t>FINAL TEAM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2F6FA"/>
                </a:solidFill>
                <a:latin typeface="NanumGothic"/>
              </a:defRPr>
            </a:pPr>
            <a:r>
              <a:t>OpenCV 위험구역 침입 감지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FC1D4"/>
                </a:solidFill>
                <a:latin typeface="NanumGothic"/>
              </a:defRPr>
            </a:pPr>
            <a:r>
              <a:t>실제 코드 · 확정 GT · 실측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FC1D4"/>
                </a:solidFill>
                <a:latin typeface="NanumGothic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20A69A"/>
                </a:solidFill>
                <a:latin typeface="NanumGothic"/>
              </a:defRPr>
            </a:pPr>
            <a:r>
              <a:t>실시간 처리 최적화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0">
                <a:solidFill>
                  <a:srgbClr val="AFC1D4"/>
                </a:solidFill>
                <a:latin typeface="NanumGothic"/>
              </a:defRPr>
            </a:pPr>
            <a:r>
              <a:t>OpenCV 기반 감지 → 경보 → 사건 기록 → 정량 검증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51960"/>
            <a:ext cx="10698480" cy="1005840"/>
          </a:xfrm>
          <a:prstGeom prst="rect">
            <a:avLst/>
          </a:prstGeom>
          <a:solidFill>
            <a:srgbClr val="18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46227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F2F6FA"/>
                </a:solidFill>
                <a:latin typeface="NanumGothic"/>
              </a:defRPr>
            </a:pPr>
            <a:r>
              <a:t>7개 영상  ·  3개 모드  ·  3회 반복  ·  최종 63회 실행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AFC1D4"/>
                </a:solidFill>
                <a:latin typeface="NanumGothic"/>
              </a:defRPr>
            </a:pPr>
            <a:r>
              <a:t>batch-20260927T234749-1ed6c599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73152" cy="594360"/>
          </a:xfrm>
          <a:prstGeom prst="rect">
            <a:avLst/>
          </a:prstGeom>
          <a:solidFill>
            <a:srgbClr val="20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0A69A"/>
                </a:solidFill>
                <a:latin typeface="NanumGothic"/>
              </a:defRPr>
            </a:pPr>
            <a:r>
              <a:t>OPENCV / DANGER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2F6FA"/>
                </a:solidFill>
                <a:latin typeface="NanumGothic"/>
              </a:defRPr>
            </a:pPr>
            <a:r>
              <a:t>01  문제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FC1D4"/>
                </a:solidFill>
                <a:latin typeface="NanumGothic"/>
              </a:defRPr>
            </a:pPr>
            <a:r>
              <a:t>실제 코드 · 확정 GT · 실측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FC1D4"/>
                </a:solidFill>
                <a:latin typeface="NanumGothic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F2F6FA"/>
                </a:solidFill>
                <a:latin typeface="NanumGothic"/>
              </a:defRPr>
            </a:pPr>
            <a:r>
              <a:t>• CCTV의 위험구역을 계속 사람이 지켜보기 어렵다</a:t>
            </a:r>
          </a:p>
          <a:p>
            <a:pPr>
              <a:spcAft>
                <a:spcPts val="1200"/>
              </a:spcAft>
              <a:defRPr sz="2300" b="0">
                <a:solidFill>
                  <a:srgbClr val="F2F6FA"/>
                </a:solidFill>
                <a:latin typeface="NanumGothic"/>
              </a:defRPr>
            </a:pPr>
            <a:r>
              <a:t>• 순간 움직임과 지속 침입을 구별해야 한다</a:t>
            </a:r>
          </a:p>
          <a:p>
            <a:pPr>
              <a:spcAft>
                <a:spcPts val="1200"/>
              </a:spcAft>
              <a:defRPr sz="2300" b="0">
                <a:solidFill>
                  <a:srgbClr val="F2F6FA"/>
                </a:solidFill>
                <a:latin typeface="NanumGothic"/>
              </a:defRPr>
            </a:pPr>
            <a:r>
              <a:t>• 사건 전후 영상과 경보 이력을 함께 남겨야 한다</a:t>
            </a:r>
          </a:p>
          <a:p>
            <a:pPr>
              <a:spcAft>
                <a:spcPts val="1200"/>
              </a:spcAft>
              <a:defRPr sz="2300" b="0">
                <a:solidFill>
                  <a:srgbClr val="F2F6FA"/>
                </a:solidFill>
                <a:latin typeface="NanumGothic"/>
              </a:defRPr>
            </a:pPr>
            <a:r>
              <a:t>• 빠른 처리와 감지 품질을 같은 실험에서 확인한다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73152" cy="594360"/>
          </a:xfrm>
          <a:prstGeom prst="rect">
            <a:avLst/>
          </a:prstGeom>
          <a:solidFill>
            <a:srgbClr val="20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0A69A"/>
                </a:solidFill>
                <a:latin typeface="NanumGothic"/>
              </a:defRPr>
            </a:pPr>
            <a:r>
              <a:t>OPENCV / DANGER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2F6FA"/>
                </a:solidFill>
                <a:latin typeface="NanumGothic"/>
              </a:defRPr>
            </a:pPr>
            <a:r>
              <a:t>02  프로젝트 목표와 범위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FC1D4"/>
                </a:solidFill>
                <a:latin typeface="NanumGothic"/>
              </a:defRPr>
            </a:pPr>
            <a:r>
              <a:t>실제 코드 · 확정 GT · 실측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FC1D4"/>
                </a:solidFill>
                <a:latin typeface="NanumGothic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F2F6FA"/>
                </a:solidFill>
                <a:latin typeface="NanumGothic"/>
              </a:defRPr>
            </a:pPr>
            <a:r>
              <a:t>• Polygon으로 사용자가 위험구역 지정</a:t>
            </a:r>
          </a:p>
          <a:p>
            <a:pPr>
              <a:spcAft>
                <a:spcPts val="1200"/>
              </a:spcAft>
              <a:defRPr sz="2300" b="0">
                <a:solidFill>
                  <a:srgbClr val="F2F6FA"/>
                </a:solidFill>
                <a:latin typeface="NanumGothic"/>
              </a:defRPr>
            </a:pPr>
            <a:r>
              <a:t>• MOG2 + N-frame + 상태 전이로 경보 확정</a:t>
            </a:r>
          </a:p>
          <a:p>
            <a:pPr>
              <a:spcAft>
                <a:spcPts val="1200"/>
              </a:spcAft>
              <a:defRPr sz="2300" b="0">
                <a:solidFill>
                  <a:srgbClr val="F2F6FA"/>
                </a:solidFill>
                <a:latin typeface="NanumGothic"/>
              </a:defRPr>
            </a:pPr>
            <a:r>
              <a:t>• 경보 이전 3초 / 해제 이후 5초 원본 녹화</a:t>
            </a:r>
          </a:p>
          <a:p>
            <a:pPr>
              <a:spcAft>
                <a:spcPts val="1200"/>
              </a:spcAft>
              <a:defRPr sz="2300" b="0">
                <a:solidFill>
                  <a:srgbClr val="F2F6FA"/>
                </a:solidFill>
                <a:latin typeface="NanumGothic"/>
              </a:defRPr>
            </a:pPr>
            <a:r>
              <a:t>• Baseline · Threaded · Optimized 성능 비교</a:t>
            </a:r>
          </a:p>
          <a:p>
            <a:pPr>
              <a:spcAft>
                <a:spcPts val="1200"/>
              </a:spcAft>
              <a:defRPr sz="2300" b="0">
                <a:solidFill>
                  <a:srgbClr val="F2F6FA"/>
                </a:solidFill>
                <a:latin typeface="NanumGothic"/>
              </a:defRPr>
            </a:pPr>
            <a:r>
              <a:t>• 객체 식별·Tracking·저조도 보정은 후속 과제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73152" cy="594360"/>
          </a:xfrm>
          <a:prstGeom prst="rect">
            <a:avLst/>
          </a:prstGeom>
          <a:solidFill>
            <a:srgbClr val="20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0A69A"/>
                </a:solidFill>
                <a:latin typeface="NanumGothic"/>
              </a:defRPr>
            </a:pPr>
            <a:r>
              <a:t>OPENCV / DANGER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2F6FA"/>
                </a:solidFill>
                <a:latin typeface="NanumGothic"/>
              </a:defRPr>
            </a:pPr>
            <a:r>
              <a:t>03  실제 시스템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FC1D4"/>
                </a:solidFill>
                <a:latin typeface="NanumGothic"/>
              </a:defRPr>
            </a:pPr>
            <a:r>
              <a:t>실제 코드 · 확정 GT · 실측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FC1D4"/>
                </a:solidFill>
                <a:latin typeface="NanumGothic"/>
              </a:defRPr>
            </a:pPr>
            <a:r>
              <a:t>04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28800"/>
            <a:ext cx="1097280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212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AFC1D4"/>
                </a:solidFill>
                <a:latin typeface="NanumGothic"/>
              </a:defRPr>
            </a:pPr>
            <a:r>
              <a:t>입력 시간축과 처리 벽시계, 원본 녹화와 분석 좌표계를 분리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73152" cy="594360"/>
          </a:xfrm>
          <a:prstGeom prst="rect">
            <a:avLst/>
          </a:prstGeom>
          <a:solidFill>
            <a:srgbClr val="20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0A69A"/>
                </a:solidFill>
                <a:latin typeface="NanumGothic"/>
              </a:defRPr>
            </a:pPr>
            <a:r>
              <a:t>OPENCV / DANGER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2F6FA"/>
                </a:solidFill>
                <a:latin typeface="NanumGothic"/>
              </a:defRPr>
            </a:pPr>
            <a:r>
              <a:t>04  Polygon + Motion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FC1D4"/>
                </a:solidFill>
                <a:latin typeface="NanumGothic"/>
              </a:defRPr>
            </a:pPr>
            <a:r>
              <a:t>실제 코드 · 확정 GT · 실측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FC1D4"/>
                </a:solidFill>
                <a:latin typeface="NanumGothic"/>
              </a:defRPr>
            </a:pPr>
            <a:r>
              <a:t>05</a:t>
            </a:r>
          </a:p>
        </p:txBody>
      </p:sp>
      <p:pic>
        <p:nvPicPr>
          <p:cNvPr id="7" name="Picture 6" descr="zone_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74519"/>
            <a:ext cx="5029200" cy="3771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19659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2F6FA"/>
                </a:solidFill>
                <a:latin typeface="NanumGothic"/>
              </a:defRPr>
            </a:pPr>
            <a:r>
              <a:t>• edit_zones / save_zones / load_zones</a:t>
            </a:r>
          </a:p>
          <a:p>
            <a:pPr>
              <a:spcAft>
                <a:spcPts val="1200"/>
              </a:spcAft>
              <a:defRPr sz="2000" b="0">
                <a:solidFill>
                  <a:srgbClr val="F2F6FA"/>
                </a:solidFill>
                <a:latin typeface="NanumGothic"/>
              </a:defRPr>
            </a:pPr>
            <a:r>
              <a:t>• MOG2 → 그림자 제외 → Morphology</a:t>
            </a:r>
          </a:p>
          <a:p>
            <a:pPr>
              <a:spcAft>
                <a:spcPts val="1200"/>
              </a:spcAft>
              <a:defRPr sz="2000" b="0">
                <a:solidFill>
                  <a:srgbClr val="F2F6FA"/>
                </a:solidFill>
                <a:latin typeface="NanumGothic"/>
              </a:defRPr>
            </a:pPr>
            <a:r>
              <a:t>• Contour 면적 필터 → 하단 중앙점</a:t>
            </a:r>
          </a:p>
          <a:p>
            <a:pPr>
              <a:spcAft>
                <a:spcPts val="1200"/>
              </a:spcAft>
              <a:defRPr sz="2000" b="0">
                <a:solidFill>
                  <a:srgbClr val="F2F6FA"/>
                </a:solidFill>
                <a:latin typeface="NanumGothic"/>
              </a:defRPr>
            </a:pPr>
            <a:r>
              <a:t>• pointPolygonTest로 내부·경계 판정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73152" cy="594360"/>
          </a:xfrm>
          <a:prstGeom prst="rect">
            <a:avLst/>
          </a:prstGeom>
          <a:solidFill>
            <a:srgbClr val="20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0A69A"/>
                </a:solidFill>
                <a:latin typeface="NanumGothic"/>
              </a:defRPr>
            </a:pPr>
            <a:r>
              <a:t>OPENCV / DANGER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2F6FA"/>
                </a:solidFill>
                <a:latin typeface="NanumGothic"/>
              </a:defRPr>
            </a:pPr>
            <a:r>
              <a:t>05  N-frame + State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FC1D4"/>
                </a:solidFill>
                <a:latin typeface="NanumGothic"/>
              </a:defRPr>
            </a:pPr>
            <a:r>
              <a:t>실제 코드 · 확정 GT · 실측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FC1D4"/>
                </a:solidFill>
                <a:latin typeface="NanumGothic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20A69A"/>
                </a:solidFill>
                <a:latin typeface="NanumGothic"/>
              </a:defRPr>
            </a:pPr>
            <a:r>
              <a:t>IDLE → DETECTING → ALERT → CLEARED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6070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F2F6FA"/>
                </a:solidFill>
                <a:latin typeface="NanumGothic"/>
              </a:defRPr>
            </a:pPr>
            <a:r>
              <a:t>• 기본 5프레임 연속 침입 → ALERT</a:t>
            </a:r>
          </a:p>
          <a:p>
            <a:pPr>
              <a:spcAft>
                <a:spcPts val="1200"/>
              </a:spcAft>
              <a:defRPr sz="2300" b="0">
                <a:solidFill>
                  <a:srgbClr val="F2F6FA"/>
                </a:solidFill>
                <a:latin typeface="NanumGothic"/>
              </a:defRPr>
            </a:pPr>
            <a:r>
              <a:t>• 기본 10프레임 연속 비침입 → CLEARED</a:t>
            </a:r>
          </a:p>
          <a:p>
            <a:pPr>
              <a:spcAft>
                <a:spcPts val="1200"/>
              </a:spcAft>
              <a:defRPr sz="2300" b="0">
                <a:solidFill>
                  <a:srgbClr val="F2F6FA"/>
                </a:solidFill>
                <a:latin typeface="NanumGothic"/>
              </a:defRPr>
            </a:pPr>
            <a:r>
              <a:t>• 구역별 상태와 사건 ID를 독립 관리</a:t>
            </a:r>
          </a:p>
          <a:p>
            <a:pPr>
              <a:spcAft>
                <a:spcPts val="1200"/>
              </a:spcAft>
              <a:defRPr sz="2300" b="0">
                <a:solidFill>
                  <a:srgbClr val="F2F6FA"/>
                </a:solidFill>
                <a:latin typeface="NanumGothic"/>
              </a:defRPr>
            </a:pPr>
            <a:r>
              <a:t>• update_state / RealBackend.update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73152" cy="594360"/>
          </a:xfrm>
          <a:prstGeom prst="rect">
            <a:avLst/>
          </a:prstGeom>
          <a:solidFill>
            <a:srgbClr val="20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0A69A"/>
                </a:solidFill>
                <a:latin typeface="NanumGothic"/>
              </a:defRPr>
            </a:pPr>
            <a:r>
              <a:t>OPENCV / DANGER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2F6FA"/>
                </a:solidFill>
                <a:latin typeface="NanumGothic"/>
              </a:defRPr>
            </a:pPr>
            <a:r>
              <a:t>06  Alert + Event Recording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FC1D4"/>
                </a:solidFill>
                <a:latin typeface="NanumGothic"/>
              </a:defRPr>
            </a:pPr>
            <a:r>
              <a:t>실제 코드 · 확정 GT · 실측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FC1D4"/>
                </a:solidFill>
                <a:latin typeface="NanumGothic"/>
              </a:defRPr>
            </a:pPr>
            <a:r>
              <a:t>07</a:t>
            </a:r>
          </a:p>
        </p:txBody>
      </p:sp>
      <p:pic>
        <p:nvPicPr>
          <p:cNvPr id="7" name="Picture 6" descr="actual_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74519"/>
            <a:ext cx="5029200" cy="3771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196596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2F6FA"/>
                </a:solidFill>
                <a:latin typeface="NanumGothic"/>
              </a:defRPr>
            </a:pPr>
            <a:r>
              <a:t>• 3초 pre → 경보 구간 → 5초 post</a:t>
            </a:r>
          </a:p>
          <a:p>
            <a:pPr>
              <a:spcAft>
                <a:spcPts val="1200"/>
              </a:spcAft>
              <a:defRPr sz="2000" b="0">
                <a:solidFill>
                  <a:srgbClr val="F2F6FA"/>
                </a:solidFill>
                <a:latin typeface="NanumGothic"/>
              </a:defRPr>
            </a:pPr>
            <a:r>
              <a:t>• deque 원본 버퍼 + 사건별 writer</a:t>
            </a:r>
          </a:p>
          <a:p>
            <a:pPr>
              <a:spcAft>
                <a:spcPts val="1200"/>
              </a:spcAft>
              <a:defRPr sz="2000" b="0">
                <a:solidFill>
                  <a:srgbClr val="F2F6FA"/>
                </a:solidFill>
                <a:latin typeface="NanumGothic"/>
              </a:defRPr>
            </a:pPr>
            <a:r>
              <a:t>• CSV의 사건·구역·시각·클립 연결</a:t>
            </a:r>
          </a:p>
          <a:p>
            <a:pPr>
              <a:spcAft>
                <a:spcPts val="1200"/>
              </a:spcAft>
              <a:defRPr sz="2000" b="0">
                <a:solidFill>
                  <a:srgbClr val="F2F6FA"/>
                </a:solidFill>
                <a:latin typeface="NanumGothic"/>
              </a:defRPr>
            </a:pPr>
            <a:r>
              <a:t>• EOF 부족 구간은 truncated 표시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AFC1D4"/>
                </a:solidFill>
                <a:latin typeface="NanumGothic"/>
              </a:defRPr>
            </a:pPr>
            <a:r>
              <a:t>실제 backend 재실행 화면 / FPS=0은 캡처 표시값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73152" cy="594360"/>
          </a:xfrm>
          <a:prstGeom prst="rect">
            <a:avLst/>
          </a:prstGeom>
          <a:solidFill>
            <a:srgbClr val="20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0A69A"/>
                </a:solidFill>
                <a:latin typeface="NanumGothic"/>
              </a:defRPr>
            </a:pPr>
            <a:r>
              <a:t>OPENCV / DANGER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2F6FA"/>
                </a:solidFill>
                <a:latin typeface="NanumGothic"/>
              </a:defRPr>
            </a:pPr>
            <a:r>
              <a:t>07  구현 결과와 추가 자동화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FC1D4"/>
                </a:solidFill>
                <a:latin typeface="NanumGothic"/>
              </a:defRPr>
            </a:pPr>
            <a:r>
              <a:t>실제 코드 · 확정 GT · 실측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FC1D4"/>
                </a:solidFill>
                <a:latin typeface="NanumGothic"/>
              </a:defRPr>
            </a:pPr>
            <a:r>
              <a:t>08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82880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658368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완성된 핵심</a:t>
                      </a:r>
                    </a:p>
                  </a:txBody>
                  <a:tcPr>
                    <a:solidFill>
                      <a:srgbClr val="2367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검증·자동화</a:t>
                      </a:r>
                    </a:p>
                  </a:txBody>
                  <a:tcPr>
                    <a:solidFill>
                      <a:srgbClr val="23677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Polygon / MOG2 / Zone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CLI + config validation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N-frame / State / Alert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GT loader + 1:1 matching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3초/5초 녹화 + CSV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EOF 평가 adapter + 회귀 테스트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세 모드 + bounded Queue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해상도 3×3 + 최적화 5종 비교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6235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AFC1D4"/>
                </a:solidFill>
                <a:latin typeface="NanumGothic"/>
              </a:defRPr>
            </a:pPr>
            <a:r>
              <a:t>drop_oldest·실제 frame skipping은 녹화/연속성 제약으로 비활성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73152" cy="594360"/>
          </a:xfrm>
          <a:prstGeom prst="rect">
            <a:avLst/>
          </a:prstGeom>
          <a:solidFill>
            <a:srgbClr val="20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0A69A"/>
                </a:solidFill>
                <a:latin typeface="NanumGothic"/>
              </a:defRPr>
            </a:pPr>
            <a:r>
              <a:t>OPENCV / DANGER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2F6FA"/>
                </a:solidFill>
                <a:latin typeface="NanumGothic"/>
              </a:defRPr>
            </a:pPr>
            <a:r>
              <a:t>08  Baseline vs Threaded vs Optimized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FC1D4"/>
                </a:solidFill>
                <a:latin typeface="NanumGothic"/>
              </a:defRPr>
            </a:pPr>
            <a:r>
              <a:t>실제 코드 · 확정 GT · 실측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FC1D4"/>
                </a:solidFill>
                <a:latin typeface="NanumGothic"/>
              </a:defRPr>
            </a:pPr>
            <a:r>
              <a:t>09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82880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68580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모드</a:t>
                      </a:r>
                    </a:p>
                  </a:txBody>
                  <a:tcPr>
                    <a:solidFill>
                      <a:srgbClr val="2367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실제 실행 구조</a:t>
                      </a:r>
                    </a:p>
                  </a:txBody>
                  <a:tcPr>
                    <a:solidFill>
                      <a:srgbClr val="23677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순차 입력 → 분석 → 상태 → 녹화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Threaded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입력 producer + bounded Queue + consumer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Optimized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Threaded 구조 + 선택적 ROI / 분석 축소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12064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AFC1D4"/>
                </a:solidFill>
                <a:latin typeface="NanumGothic"/>
              </a:defRPr>
            </a:pPr>
            <a:r>
              <a:t>동일 감지 코드 사용 / 기본 384×288에서는 축소가 적용되지 않음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73152" cy="594360"/>
          </a:xfrm>
          <a:prstGeom prst="rect">
            <a:avLst/>
          </a:prstGeom>
          <a:solidFill>
            <a:srgbClr val="20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0A69A"/>
                </a:solidFill>
                <a:latin typeface="NanumGothic"/>
              </a:defRPr>
            </a:pPr>
            <a:r>
              <a:t>OPENCV / DANGER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2F6FA"/>
                </a:solidFill>
                <a:latin typeface="NanumGothic"/>
              </a:defRPr>
            </a:pPr>
            <a:r>
              <a:t>09  최적화 실측: 속도와 정확도 함께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FC1D4"/>
                </a:solidFill>
                <a:latin typeface="NanumGothic"/>
              </a:defRPr>
            </a:pPr>
            <a:r>
              <a:t>실제 코드 · 확정 GT · 실측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FC1D4"/>
                </a:solidFill>
                <a:latin typeface="NanumGothic"/>
              </a:defRPr>
            </a:pPr>
            <a: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828800"/>
          <a:ext cx="106984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5638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기법</a:t>
                      </a:r>
                    </a:p>
                  </a:txBody>
                  <a:tcPr>
                    <a:solidFill>
                      <a:srgbClr val="2367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OFF FPS</a:t>
                      </a:r>
                    </a:p>
                  </a:txBody>
                  <a:tcPr>
                    <a:solidFill>
                      <a:srgbClr val="2367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ON FPS</a:t>
                      </a:r>
                    </a:p>
                  </a:txBody>
                  <a:tcPr>
                    <a:solidFill>
                      <a:srgbClr val="2367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변화 %</a:t>
                      </a:r>
                    </a:p>
                  </a:txBody>
                  <a:tcPr>
                    <a:solidFill>
                      <a:srgbClr val="2367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F1 변화</a:t>
                      </a:r>
                    </a:p>
                  </a:txBody>
                  <a:tcPr>
                    <a:solidFill>
                      <a:srgbClr val="236779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input_thread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441.1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468.4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6.19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downscale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462.7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910.5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96.81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0.083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roi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469.8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764.5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62.74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queue_capacity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454.7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406.5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-10.61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opencv_threads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466.6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372.3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-20.21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0.000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AFC1D4"/>
                </a:solidFill>
                <a:latin typeface="NanumGothic"/>
              </a:defRPr>
            </a:pPr>
            <a:r>
              <a:t>Browse/Danger × 2회 / queue는 8→2 / OpenCV threads는 기본→1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73152" cy="594360"/>
          </a:xfrm>
          <a:prstGeom prst="rect">
            <a:avLst/>
          </a:prstGeom>
          <a:solidFill>
            <a:srgbClr val="20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0A69A"/>
                </a:solidFill>
                <a:latin typeface="NanumGothic"/>
              </a:defRPr>
            </a:pPr>
            <a:r>
              <a:t>OPENCV / DANGER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2F6FA"/>
                </a:solidFill>
                <a:latin typeface="NanumGothic"/>
              </a:defRPr>
            </a:pPr>
            <a:r>
              <a:t>10  실험 설계 / 확정 Ground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FC1D4"/>
                </a:solidFill>
                <a:latin typeface="NanumGothic"/>
              </a:defRPr>
            </a:pPr>
            <a:r>
              <a:t>실제 코드 · 확정 GT · 실측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FC1D4"/>
                </a:solidFill>
                <a:latin typeface="NanumGothic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F2F6FA"/>
                </a:solidFill>
                <a:latin typeface="NanumGothic"/>
              </a:defRPr>
            </a:pPr>
            <a:r>
              <a:t>• 전체: 7영상 × 3모드 × 3회 = 63실행</a:t>
            </a:r>
          </a:p>
          <a:p>
            <a:pPr>
              <a:spcAft>
                <a:spcPts val="1200"/>
              </a:spcAft>
              <a:defRPr sz="2200" b="0">
                <a:solidFill>
                  <a:srgbClr val="F2F6FA"/>
                </a:solidFill>
                <a:latin typeface="NanumGothic"/>
              </a:defRPr>
            </a:pPr>
            <a:r>
              <a:t>• 확정 GT: 고유 침입 8구간 / GT 원본 변경 없음</a:t>
            </a:r>
          </a:p>
          <a:p>
            <a:pPr>
              <a:spcAft>
                <a:spcPts val="1200"/>
              </a:spcAft>
              <a:defRPr sz="2200" b="0">
                <a:solidFill>
                  <a:srgbClr val="F2F6FA"/>
                </a:solidFill>
                <a:latin typeface="NanumGothic"/>
              </a:defRPr>
            </a:pPr>
            <a:r>
              <a:t>• 같은 영상·Zone의 overlap → 최대 1:1 매칭</a:t>
            </a:r>
          </a:p>
          <a:p>
            <a:pPr>
              <a:spcAft>
                <a:spcPts val="1200"/>
              </a:spcAft>
              <a:defRPr sz="2200" b="0">
                <a:solidFill>
                  <a:srgbClr val="F2F6FA"/>
                </a:solidFill>
                <a:latin typeface="NanumGothic"/>
              </a:defRPr>
            </a:pPr>
            <a:r>
              <a:t>• open_at_eof도 [start, frame_count/source_fps]로 평가</a:t>
            </a:r>
          </a:p>
          <a:p>
            <a:pPr>
              <a:spcAft>
                <a:spcPts val="1200"/>
              </a:spcAft>
              <a:defRPr sz="2200" b="0">
                <a:solidFill>
                  <a:srgbClr val="F2F6FA"/>
                </a:solidFill>
                <a:latin typeface="NanumGothic"/>
              </a:defRPr>
            </a:pPr>
            <a:r>
              <a:t>• 원본 events.csv의 빈 end_time과 status는 보존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73152" cy="594360"/>
          </a:xfrm>
          <a:prstGeom prst="rect">
            <a:avLst/>
          </a:prstGeom>
          <a:solidFill>
            <a:srgbClr val="20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0A69A"/>
                </a:solidFill>
                <a:latin typeface="NanumGothic"/>
              </a:defRPr>
            </a:pPr>
            <a:r>
              <a:t>OPENCV / DANGER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2F6FA"/>
                </a:solidFill>
                <a:latin typeface="NanumGothic"/>
              </a:defRPr>
            </a:pPr>
            <a:r>
              <a:t>11  감지 성능: 과장 없이 공개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FC1D4"/>
                </a:solidFill>
                <a:latin typeface="NanumGothic"/>
              </a:defRPr>
            </a:pPr>
            <a:r>
              <a:t>실제 코드 · 확정 GT · 실측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FC1D4"/>
                </a:solidFill>
                <a:latin typeface="NanumGothic"/>
              </a:defRPr>
            </a:pPr>
            <a: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82880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57150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모드</a:t>
                      </a:r>
                    </a:p>
                  </a:txBody>
                  <a:tcPr>
                    <a:solidFill>
                      <a:srgbClr val="2367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TP / FP / FN</a:t>
                      </a:r>
                    </a:p>
                  </a:txBody>
                  <a:tcPr>
                    <a:solidFill>
                      <a:srgbClr val="2367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2367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2367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2367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Delay(s)</a:t>
                      </a:r>
                    </a:p>
                  </a:txBody>
                  <a:tcPr>
                    <a:solidFill>
                      <a:srgbClr val="23677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18 / 15 / 6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0.545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0.750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0.632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0.807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threaded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18 / 15 / 6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0.545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0.750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0.632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0.807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optimized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18 / 15 / 6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0.545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0.750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0.632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0.807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754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AFC1D4"/>
                </a:solidFill>
                <a:latin typeface="NanumGothic"/>
              </a:defRPr>
            </a:pPr>
            <a:r>
              <a:t>각 모드 3반복 합산 / baseline 1회: TP 6 · FP 5 · FN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0A69A"/>
                </a:solidFill>
                <a:latin typeface="NanumGothic"/>
              </a:defRPr>
            </a:pPr>
            <a:r>
              <a:t>Browse: TP 1 / FP 2 / FN 0 (각 모드·반복), EOF 경보 포함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73152" cy="594360"/>
          </a:xfrm>
          <a:prstGeom prst="rect">
            <a:avLst/>
          </a:prstGeom>
          <a:solidFill>
            <a:srgbClr val="20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0A69A"/>
                </a:solidFill>
                <a:latin typeface="NanumGothic"/>
              </a:defRPr>
            </a:pPr>
            <a:r>
              <a:t>OPENCV / DANGER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2F6FA"/>
                </a:solidFill>
                <a:latin typeface="NanumGothic"/>
              </a:defRPr>
            </a:pPr>
            <a:r>
              <a:t>12  처리 성능 / 해상도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FC1D4"/>
                </a:solidFill>
                <a:latin typeface="NanumGothic"/>
              </a:defRPr>
            </a:pPr>
            <a:r>
              <a:t>실제 코드 · 확정 GT · 실측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FC1D4"/>
                </a:solidFill>
                <a:latin typeface="NanumGothic"/>
              </a:defRPr>
            </a:pPr>
            <a: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37360"/>
          <a:ext cx="53035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52578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모드</a:t>
                      </a:r>
                    </a:p>
                  </a:txBody>
                  <a:tcPr>
                    <a:solidFill>
                      <a:srgbClr val="2367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Processing FPS</a:t>
                      </a:r>
                    </a:p>
                  </a:txBody>
                  <a:tcPr>
                    <a:solidFill>
                      <a:srgbClr val="2367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Baseline 대비 %</a:t>
                      </a:r>
                    </a:p>
                  </a:txBody>
                  <a:tcPr>
                    <a:solidFill>
                      <a:srgbClr val="23677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495.01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threaded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504.72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1.96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optimized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498.04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F2F6FA"/>
                          </a:solidFill>
                          <a:latin typeface="NanumGothic"/>
                        </a:defRPr>
                      </a:pPr>
                      <a:r>
                        <a:t>0.61</a:t>
                      </a:r>
                    </a:p>
                  </a:txBody>
                  <a:tcPr>
                    <a:solidFill>
                      <a:srgbClr val="183047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resolut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37360"/>
            <a:ext cx="5394960" cy="2697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4389120"/>
            <a:ext cx="10698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AFC1D4"/>
                </a:solidFill>
                <a:latin typeface="NanumGothic"/>
              </a:defRPr>
            </a:pPr>
            <a:r>
              <a:t>Source FPS와 처리 throughput은 다른 값</a:t>
            </a:r>
          </a:p>
          <a:p>
            <a:pPr>
              <a:spcAft>
                <a:spcPts val="1200"/>
              </a:spcAft>
              <a:defRPr sz="2100" b="0">
                <a:solidFill>
                  <a:srgbClr val="AFC1D4"/>
                </a:solidFill>
                <a:latin typeface="NanumGothic"/>
              </a:defRPr>
            </a:pPr>
            <a:r>
              <a:t>Warmup 30 frame 제외 / 녹화 포함 / GUI 제외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73152" cy="594360"/>
          </a:xfrm>
          <a:prstGeom prst="rect">
            <a:avLst/>
          </a:prstGeom>
          <a:solidFill>
            <a:srgbClr val="20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0A69A"/>
                </a:solidFill>
                <a:latin typeface="NanumGothic"/>
              </a:defRPr>
            </a:pPr>
            <a:r>
              <a:t>OPENCV / DANGER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2F6FA"/>
                </a:solidFill>
                <a:latin typeface="NanumGothic"/>
              </a:defRPr>
            </a:pPr>
            <a:r>
              <a:t>13  실패 사례와 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FC1D4"/>
                </a:solidFill>
                <a:latin typeface="NanumGothic"/>
              </a:defRPr>
            </a:pPr>
            <a:r>
              <a:t>실제 코드 · 확정 GT · 실측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FC1D4"/>
                </a:solidFill>
                <a:latin typeface="NanumGothic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F2F6FA"/>
                </a:solidFill>
                <a:latin typeface="NanumGothic"/>
              </a:defRPr>
            </a:pPr>
            <a:r>
              <a:t>• 정답 밖 추가 경보와 GT 미매칭이 실제로 발생</a:t>
            </a:r>
          </a:p>
          <a:p>
            <a:pPr>
              <a:spcAft>
                <a:spcPts val="1200"/>
              </a:spcAft>
              <a:defRPr sz="2200" b="0">
                <a:solidFill>
                  <a:srgbClr val="F2F6FA"/>
                </a:solidFill>
                <a:latin typeface="NanumGothic"/>
              </a:defRPr>
            </a:pPr>
            <a:r>
              <a:t>• 움직임 기반: 정지 객체·배경 변화에 취약할 수 있음</a:t>
            </a:r>
          </a:p>
          <a:p>
            <a:pPr>
              <a:spcAft>
                <a:spcPts val="1200"/>
              </a:spcAft>
              <a:defRPr sz="2200" b="0">
                <a:solidFill>
                  <a:srgbClr val="F2F6FA"/>
                </a:solidFill>
                <a:latin typeface="NanumGothic"/>
              </a:defRPr>
            </a:pPr>
            <a:r>
              <a:t>• 하단 중앙점 기준과 실제 polygon 점유는 차이가 있음</a:t>
            </a:r>
          </a:p>
          <a:p>
            <a:pPr>
              <a:spcAft>
                <a:spcPts val="1200"/>
              </a:spcAft>
              <a:defRPr sz="2200" b="0">
                <a:solidFill>
                  <a:srgbClr val="F2F6FA"/>
                </a:solidFill>
                <a:latin typeface="NanumGothic"/>
              </a:defRPr>
            </a:pPr>
            <a:r>
              <a:t>• bounded Queue ≠ 카메라 지연 누적 완전 제거</a:t>
            </a:r>
          </a:p>
          <a:p>
            <a:pPr>
              <a:spcAft>
                <a:spcPts val="1200"/>
              </a:spcAft>
              <a:defRPr sz="2200" b="0">
                <a:solidFill>
                  <a:srgbClr val="F2F6FA"/>
                </a:solidFill>
                <a:latin typeface="NanumGothic"/>
              </a:defRPr>
            </a:pPr>
            <a:r>
              <a:t>• OpenCL 미지원 / 7개 저해상도 영상으로 일반화 제한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411480"/>
            <a:ext cx="73152" cy="594360"/>
          </a:xfrm>
          <a:prstGeom prst="rect">
            <a:avLst/>
          </a:prstGeom>
          <a:solidFill>
            <a:srgbClr val="20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0A69A"/>
                </a:solidFill>
                <a:latin typeface="NanumGothic"/>
              </a:defRPr>
            </a:pPr>
            <a:r>
              <a:t>OPENCV / DANGER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2F6FA"/>
                </a:solidFill>
                <a:latin typeface="NanumGothic"/>
              </a:defRPr>
            </a:pPr>
            <a:r>
              <a:t>14  결론 / 다음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AFC1D4"/>
                </a:solidFill>
                <a:latin typeface="NanumGothic"/>
              </a:defRPr>
            </a:pPr>
            <a:r>
              <a:t>실제 코드 · 확정 GT · 실측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AFC1D4"/>
                </a:solidFill>
                <a:latin typeface="NanumGothic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F2F6FA"/>
                </a:solidFill>
                <a:latin typeface="NanumGothic"/>
              </a:defRPr>
            </a:pPr>
            <a:r>
              <a:t>• 핵심 감지·경보·원본 사건 녹화 경로 검증</a:t>
            </a:r>
          </a:p>
          <a:p>
            <a:pPr>
              <a:spcAft>
                <a:spcPts val="1200"/>
              </a:spcAft>
              <a:defRPr sz="2200" b="0">
                <a:solidFill>
                  <a:srgbClr val="F2F6FA"/>
                </a:solidFill>
                <a:latin typeface="NanumGothic"/>
              </a:defRPr>
            </a:pPr>
            <a:r>
              <a:t>• EOF 경보 평가 복구 + 재현 가능한 결과 고정</a:t>
            </a:r>
          </a:p>
          <a:p>
            <a:pPr>
              <a:spcAft>
                <a:spcPts val="1200"/>
              </a:spcAft>
              <a:defRPr sz="2200" b="0">
                <a:solidFill>
                  <a:srgbClr val="F2F6FA"/>
                </a:solidFill>
                <a:latin typeface="NanumGothic"/>
              </a:defRPr>
            </a:pPr>
            <a:r>
              <a:t>• Baseline 495.01 FPS / F1 0.632</a:t>
            </a:r>
          </a:p>
          <a:p>
            <a:pPr>
              <a:spcAft>
                <a:spcPts val="1200"/>
              </a:spcAft>
              <a:defRPr sz="2200" b="0">
                <a:solidFill>
                  <a:srgbClr val="F2F6FA"/>
                </a:solidFill>
                <a:latin typeface="NanumGothic"/>
              </a:defRPr>
            </a:pPr>
            <a:r>
              <a:t>• 84 tests + lint/format 통과; 수치 출처는 최종 CSV</a:t>
            </a:r>
          </a:p>
          <a:p>
            <a:pPr>
              <a:spcAft>
                <a:spcPts val="1200"/>
              </a:spcAft>
              <a:defRPr sz="2200" b="0">
                <a:solidFill>
                  <a:srgbClr val="F2F6FA"/>
                </a:solidFill>
                <a:latin typeface="NanumGothic"/>
              </a:defRPr>
            </a:pPr>
            <a:r>
              <a:t>• 다음: 객체 검출·Tracking·적응형 임계값·고해상도 검증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